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57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08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2743200" cy="438912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6400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CyberBot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474720" y="14173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0" y="2148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bot works — classes, collections,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delegates, error handling and memory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017520"/>
            <a:ext cx="987552" cy="274320"/>
          </a:xfrm>
          <a:prstGeom prst="rect">
            <a:avLst/>
          </a:prstGeom>
          <a:solidFill>
            <a:srgbClr val="0A140A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017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.NET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35424" y="3017520"/>
            <a:ext cx="987552" cy="274320"/>
          </a:xfrm>
          <a:prstGeom prst="rect">
            <a:avLst/>
          </a:prstGeom>
          <a:solidFill>
            <a:srgbClr val="0A140A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3017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WPF GUI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96128" y="3017520"/>
            <a:ext cx="987552" cy="274320"/>
          </a:xfrm>
          <a:prstGeom prst="rect">
            <a:avLst/>
          </a:prstGeom>
          <a:solidFill>
            <a:srgbClr val="0A140A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3017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56832" y="3017520"/>
            <a:ext cx="987552" cy="274320"/>
          </a:xfrm>
          <a:prstGeom prst="rect">
            <a:avLst/>
          </a:prstGeom>
          <a:solidFill>
            <a:srgbClr val="0A140A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3017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17536" y="3017520"/>
            <a:ext cx="987552" cy="274320"/>
          </a:xfrm>
          <a:prstGeom prst="rect">
            <a:avLst/>
          </a:prstGeom>
          <a:solidFill>
            <a:srgbClr val="0A140A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3017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GUI APPLICATION  ·  C# .NET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34556"/>
            <a:ext cx="2517176" cy="3434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projects, one solution — console logic linked to the WPF GUI via a shared namespace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0350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43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399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 — calls all original console classes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92224"/>
            <a:ext cx="54864" cy="60350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837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VoiceGreeting.cs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20939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SpeechSynthesizer — male voice welcome on startup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87168"/>
            <a:ext cx="54864" cy="60350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532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AsciiArt.cs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2788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lock ASCII art with Thread.Sleep stagger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82112"/>
            <a:ext cx="54864" cy="60350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227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SectionDivider.cs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3483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— draws a green separator 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77056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77056"/>
            <a:ext cx="54864" cy="60350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9227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ChatEngine.cs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Delegates, keyword routing, sentiment, memory, error handling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097280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97280"/>
            <a:ext cx="54864" cy="60350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143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MemoryStore.cs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2896" y="1399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Dictionary — stores name, topic, message count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792224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92224"/>
            <a:ext cx="54864" cy="60350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1837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SentimentDetector.cs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20939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user emotion — prepends empathy prefix to response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487168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487168"/>
            <a:ext cx="54864" cy="60350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2532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ResponseLibrary.cs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2896" y="2788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Lists of responses — GetRandom() picks one per call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182112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182112"/>
            <a:ext cx="54864" cy="603504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227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ConsoleBridge.cs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82896" y="34838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link between projects — calls VoiceGreeting and Divider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877056"/>
            <a:ext cx="4160520" cy="60350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877056"/>
            <a:ext cx="54864" cy="603504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39227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MainWindow.xaml.cs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82896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code-behind — AddUserBubble, AddBotBubble, SubmitMessage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PROJECT STRUCTURE  ·  10 FILES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&amp; Generic Dictionary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delegate ResponseChat maps each keyword string to a handler method at runtime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154680" cy="3291841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delegate?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delegate is a type-safe function pointer. Instead of hard-coding which method to call, we store method references in a Dictionary and invoke them dynamically when a keyword is matched.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adding a new keyword only requires one new dictionary entry — the invocation logic never changes.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Dictionary&lt;string, ResponseChat&gt;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generic Dictionary maps each keyword string to a ResponseChat delegate instance. When a keyword is found in user input, the matching delegate fires the correct handler.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DELEGATES  ·  ChatEngine.cs</a:t>
            </a:r>
            <a:endParaRPr lang="en-US" sz="9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051559"/>
            <a:ext cx="3441290" cy="3321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Recognition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word-boundary matching ensures 'scam' does not match inside 'scenario'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0" cy="3355848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51560"/>
            <a:ext cx="3291840" cy="749808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051560"/>
            <a:ext cx="54864" cy="74980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1188720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1887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83680" y="1124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boundary matching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7568" y="14721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Regex.IsMatch with \b ensures 'scam' only matches the word 'scam' — not 'scenario' or 'disclaim'.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920240"/>
            <a:ext cx="3291840" cy="749808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920240"/>
            <a:ext cx="54864" cy="74980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7568" y="2057400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0574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1993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entry.Value.Invoke()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87568" y="234086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delegate stored in the dictionary is invoked dynamically — no if/else chain needed per keyword.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788920"/>
            <a:ext cx="3291840" cy="749808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788920"/>
            <a:ext cx="54864" cy="7498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87568" y="2926080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29260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2862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SetLastTopic()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87568" y="320954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matched keyword is stored in MemoryStore so the bot can reference it in follow-up messages.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657600"/>
            <a:ext cx="3291840" cy="749808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3657600"/>
            <a:ext cx="54864" cy="74980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3794760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79476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3730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BuildFollowUp()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87568" y="40782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2+ messages the bot appends a conversational follow-up prompt to keep the dialogue engaging.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KEYWORD RECOGNITION  ·  ChatEngine.cs</a:t>
            </a:r>
            <a:endParaRPr lang="en-US" sz="9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01" y="1300701"/>
            <a:ext cx="4833602" cy="2558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46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Collections &amp; Random Responses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holds multiple responses per topic — GetRandom() picks one each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0" cy="3657600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51560"/>
            <a:ext cx="1554480" cy="91440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051560"/>
            <a:ext cx="1554480" cy="5486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1612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topics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051560"/>
            <a:ext cx="1554480" cy="91440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051560"/>
            <a:ext cx="155448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1612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each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148840"/>
            <a:ext cx="1554480" cy="91440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148840"/>
            <a:ext cx="15544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2585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715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148840"/>
            <a:ext cx="1554480" cy="91440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148840"/>
            <a:ext cx="1554480" cy="54864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2585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79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0" y="2715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answers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3246120"/>
            <a:ext cx="3291840" cy="146304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ThreadLocal&lt;Random&gt;?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63931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static Random is not thread-safe. ThreadLocal&lt;Random&gt; gives each thread its own Random instance — preventing rare race conditions if the bot ever processes multiple inputs concurrently.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GENERIC COLLECTIONS  ·  ResponseLibrary.cs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91477"/>
            <a:ext cx="4816829" cy="3262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Dictionary&lt;string,string&gt; persists user name, last topic and message count across the session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0" cy="3529584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51560"/>
            <a:ext cx="3291840" cy="78638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051560"/>
            <a:ext cx="54864" cy="786384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1216152"/>
            <a:ext cx="777240" cy="237744"/>
          </a:xfrm>
          <a:prstGeom prst="rect">
            <a:avLst/>
          </a:prstGeom>
          <a:solidFill>
            <a:srgbClr val="0A14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2161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7960" y="11612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via ExtractName() and stored in UserName property and _memory["name"]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965960"/>
            <a:ext cx="3291840" cy="78638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965960"/>
            <a:ext cx="54864" cy="78638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7568" y="2130552"/>
            <a:ext cx="777240" cy="237744"/>
          </a:xfrm>
          <a:prstGeom prst="rect">
            <a:avLst/>
          </a:prstGeom>
          <a:solidFill>
            <a:srgbClr val="0A140A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1305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20756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SetLastTopic() called every keyword match — used by BuildFollowUp() to personalise follow-ups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880360"/>
            <a:ext cx="3291840" cy="78638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880360"/>
            <a:ext cx="54864" cy="7863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3044952"/>
            <a:ext cx="777240" cy="237744"/>
          </a:xfrm>
          <a:prstGeom prst="rect">
            <a:avLst/>
          </a:prstGeom>
          <a:solidFill>
            <a:srgbClr val="0A140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3044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37960" y="29900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IncrementMessage() called on every ProcessInput() — triggers follow-up after 2+ messages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794760"/>
            <a:ext cx="3291840" cy="786384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794760"/>
            <a:ext cx="54864" cy="786384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3959352"/>
            <a:ext cx="777240" cy="237744"/>
          </a:xfrm>
          <a:prstGeom prst="rect">
            <a:avLst/>
          </a:prstGeom>
          <a:solidFill>
            <a:srgbClr val="0A140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39593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37960" y="390448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GetGreeting() checks HasName() and MessageCount to return context-aware opening messages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MEMORY RECALL  ·  MemoryStore.cs</a:t>
            </a:r>
            <a:endParaRPr 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15030"/>
            <a:ext cx="4750739" cy="3402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Detection &amp; Empathy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 of emotional trigger words classify sentiment — an empathy prefix is prepended to the response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89385"/>
            <a:ext cx="4937760" cy="1719775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051560"/>
            <a:ext cx="3383280" cy="64008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051560"/>
            <a:ext cx="54864" cy="6400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106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13807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help, emergency, asap, danger, critical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1801368"/>
            <a:ext cx="3383280" cy="64008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801368"/>
            <a:ext cx="54864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21305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worried, scared, hacked, breached, stolen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551176"/>
            <a:ext cx="3383280" cy="64008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551176"/>
            <a:ext cx="54864" cy="64008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26060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28803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confused, explain, what is, how does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300984"/>
            <a:ext cx="3383280" cy="64008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3300984"/>
            <a:ext cx="54864" cy="64008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33558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363016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thanks, great, helpful, awesome, perfect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4050792"/>
            <a:ext cx="3383280" cy="640080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050792"/>
            <a:ext cx="54864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41056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Neutral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96128" y="437997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emotional trigger words detected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SENTIMENT DETECTION  ·  SentimentDetector.cs</a:t>
            </a:r>
            <a:endParaRPr lang="en-US" sz="9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" y="1033725"/>
            <a:ext cx="2987520" cy="195566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44833"/>
            <a:ext cx="4398069" cy="12448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&amp; Error Handling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failure path returns a safe message — the bot never crashes on bad input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0" cy="3694176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051560"/>
            <a:ext cx="3291840" cy="66751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051560"/>
            <a:ext cx="54864" cy="6675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7568" y="1179576"/>
            <a:ext cx="96012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117957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20840" y="112471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whitespace 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7568" y="145389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IsNullOrWhiteSpace check runs before any logic — returns immediately with a prompt message.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819656"/>
            <a:ext cx="3291840" cy="66751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819656"/>
            <a:ext cx="54864" cy="66751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1947672"/>
            <a:ext cx="96012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94767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20840" y="18928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input (&lt;15 chars)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7568" y="22219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under 15 characters trigger a clarification response asking the user to elaborate.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587752"/>
            <a:ext cx="3291840" cy="66751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587752"/>
            <a:ext cx="54864" cy="66751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2715768"/>
            <a:ext cx="96012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7157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20840" y="2660904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keyword matched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87568" y="299008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FallbackResponses List is used when no keyword matches — GetRandom keeps it varied.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7840" y="3355848"/>
            <a:ext cx="3291840" cy="66751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3355848"/>
            <a:ext cx="54864" cy="66751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87568" y="3483864"/>
            <a:ext cx="96012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48386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3429000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exception caught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87568" y="375818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ProcessInput body is wrapped in try/catch — ex.Message is returned as a user-friendly string.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4123944"/>
            <a:ext cx="3291840" cy="66751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4123944"/>
            <a:ext cx="54864" cy="66751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4251960"/>
            <a:ext cx="96012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425196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20840" y="419709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ExtractName safe catch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87568" y="452628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extraction uses a silent catch — failure returns string.Empty and the conversation continues.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ERROR HANDLING  ·  ChatEngine.cs</a:t>
            </a:r>
            <a:endParaRPr lang="en-US" sz="9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" y="1113453"/>
            <a:ext cx="2819232" cy="155871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" y="2813239"/>
            <a:ext cx="2272518" cy="17640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UI — MainWindow.xaml.cs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bubbles built in code-behind using Border and TextBlock — no XAML data binding needed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297680" cy="1920240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3090672"/>
            <a:ext cx="4297680" cy="1618488"/>
          </a:xfrm>
          <a:prstGeom prst="rect">
            <a:avLst/>
          </a:prstGeom>
          <a:solidFill>
            <a:srgbClr val="0A140A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090672"/>
            <a:ext cx="54864" cy="161848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10997"/>
            <a:ext cx="4023360" cy="57607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1067" y="1210997"/>
            <a:ext cx="54864" cy="57607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403603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0756" y="1412165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13833" y="1330451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Grid.RowSpan=3 makes the ASCII TextBlock cover the full window behind all UI elements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39316" y="1880259"/>
            <a:ext cx="4023360" cy="57607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39316" y="1880259"/>
            <a:ext cx="54864" cy="5760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49044" y="2026563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9044" y="2026563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45156" y="1971699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Opacity=0.07 keeps the lock art subtle — increase to 0.12 for a stronger effect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39316" y="2566059"/>
            <a:ext cx="4023360" cy="57607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9316" y="2566059"/>
            <a:ext cx="54864" cy="57607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49044" y="2712363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9044" y="2712363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HITTEST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45156" y="2657499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IsHitTestVisible=False passes all mouse clicks through to the chat controls below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39316" y="3319271"/>
            <a:ext cx="4023360" cy="576072"/>
          </a:xfrm>
          <a:prstGeom prst="rect">
            <a:avLst/>
          </a:prstGeom>
          <a:solidFill>
            <a:srgbClr val="111F11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9316" y="3319271"/>
            <a:ext cx="54864" cy="576072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9044" y="3465575"/>
            <a:ext cx="822960" cy="219456"/>
          </a:xfrm>
          <a:prstGeom prst="rect">
            <a:avLst/>
          </a:prstGeom>
          <a:solidFill>
            <a:srgbClr val="0A140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9044" y="3465575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45156" y="3410711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ScrollToBottom() called after every bot bubble so the latest message is always visible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WPF UI  ·  MainWindow.xaml.cs</a:t>
            </a:r>
            <a:endParaRPr lang="en-US" sz="9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9174"/>
            <a:ext cx="2061963" cy="160318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006" y="1108104"/>
            <a:ext cx="1974103" cy="160425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01" y="3142131"/>
            <a:ext cx="2402030" cy="1547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CyberBot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011680"/>
            <a:ext cx="54864" cy="7772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59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ResponseChat delegate maps 10 keywords to handler methods in a Dictionary&lt;string,ResponseChat&gt;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011680"/>
            <a:ext cx="54864" cy="77724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Collections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359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per topic, Dictionary&lt;string,string&gt; for memory, List&lt;ChatMessage&gt; for history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777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80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Recall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MemoryStore persists UserName, LastTopic and MessageCount across the entire session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54864" cy="77724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80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 + Empathy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emotional words classify input — switch expression prepends an empathetic opener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40480"/>
            <a:ext cx="54864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95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87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input guards + try/catch wraps all logic — bot always returns a string, never throws to UI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4069080" cy="77724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840480"/>
            <a:ext cx="54864" cy="77724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895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WPF GUI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187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+ TextBlock bubbles built in code-behind — ASCII lock art layered at Opacity 0.07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A0D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CYBERBOT  ·  C# .NET  ·  WPF  ·  CYBERSECURITY AWARENESS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935</Words>
  <Application>Microsoft Office PowerPoint</Application>
  <PresentationFormat>On-screen Show (16:9)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Ipakeng Molefi</cp:lastModifiedBy>
  <cp:revision>6</cp:revision>
  <dcterms:created xsi:type="dcterms:W3CDTF">2026-05-27T09:59:59Z</dcterms:created>
  <dcterms:modified xsi:type="dcterms:W3CDTF">2026-05-29T10:09:34Z</dcterms:modified>
</cp:coreProperties>
</file>